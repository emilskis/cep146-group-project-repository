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3"/>
  </p:normalViewPr>
  <p:slideViewPr>
    <p:cSldViewPr snapToGrid="0">
      <p:cViewPr varScale="1">
        <p:scale>
          <a:sx n="109" d="100"/>
          <a:sy n="109" d="100"/>
        </p:scale>
        <p:origin x="8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9DF6D8-42B8-4706-B9CA-3E311AF786A0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BF7C4FB-3213-41AA-86DF-9F2F6CE7C269}">
      <dgm:prSet/>
      <dgm:spPr/>
      <dgm:t>
        <a:bodyPr/>
        <a:lstStyle/>
        <a:p>
          <a:r>
            <a:rPr lang="en-CA"/>
            <a:t>Historical Event (Historical Perspective)</a:t>
          </a:r>
          <a:endParaRPr lang="en-US"/>
        </a:p>
      </dgm:t>
    </dgm:pt>
    <dgm:pt modelId="{C66C4561-861F-4FCD-8CD3-A7E88F089EE5}" type="parTrans" cxnId="{754E831C-40E9-47D8-A52D-00D6FA042A0E}">
      <dgm:prSet/>
      <dgm:spPr/>
      <dgm:t>
        <a:bodyPr/>
        <a:lstStyle/>
        <a:p>
          <a:endParaRPr lang="en-US"/>
        </a:p>
      </dgm:t>
    </dgm:pt>
    <dgm:pt modelId="{1F3644BE-BE8E-4FEC-8A54-89E439864B5C}" type="sibTrans" cxnId="{754E831C-40E9-47D8-A52D-00D6FA042A0E}">
      <dgm:prSet/>
      <dgm:spPr/>
      <dgm:t>
        <a:bodyPr/>
        <a:lstStyle/>
        <a:p>
          <a:endParaRPr lang="en-US"/>
        </a:p>
      </dgm:t>
    </dgm:pt>
    <dgm:pt modelId="{8F59B3F6-3738-4119-9096-E13E522BEA17}">
      <dgm:prSet/>
      <dgm:spPr/>
      <dgm:t>
        <a:bodyPr/>
        <a:lstStyle/>
        <a:p>
          <a:r>
            <a:rPr lang="en-CA"/>
            <a:t>Global Case (Global Focus)</a:t>
          </a:r>
          <a:endParaRPr lang="en-US"/>
        </a:p>
      </dgm:t>
    </dgm:pt>
    <dgm:pt modelId="{88CE3394-749E-4F36-AC1C-E722C964C23D}" type="parTrans" cxnId="{2D26156D-2D34-4870-B049-3A1A313D1FB6}">
      <dgm:prSet/>
      <dgm:spPr/>
      <dgm:t>
        <a:bodyPr/>
        <a:lstStyle/>
        <a:p>
          <a:endParaRPr lang="en-US"/>
        </a:p>
      </dgm:t>
    </dgm:pt>
    <dgm:pt modelId="{9C0297C1-7114-40B9-AF2F-1E08901CC28D}" type="sibTrans" cxnId="{2D26156D-2D34-4870-B049-3A1A313D1FB6}">
      <dgm:prSet/>
      <dgm:spPr/>
      <dgm:t>
        <a:bodyPr/>
        <a:lstStyle/>
        <a:p>
          <a:endParaRPr lang="en-US"/>
        </a:p>
      </dgm:t>
    </dgm:pt>
    <dgm:pt modelId="{37336964-C409-423A-A47D-90B797D2B4EE}">
      <dgm:prSet/>
      <dgm:spPr/>
      <dgm:t>
        <a:bodyPr/>
        <a:lstStyle/>
        <a:p>
          <a:r>
            <a:rPr lang="en-CA"/>
            <a:t>Canadian Case (Local Focus) </a:t>
          </a:r>
          <a:endParaRPr lang="en-US"/>
        </a:p>
      </dgm:t>
    </dgm:pt>
    <dgm:pt modelId="{BD354B45-1968-47F6-ACDE-18483252F65B}" type="parTrans" cxnId="{523976B0-1510-4091-96DF-FAA7917DC6E9}">
      <dgm:prSet/>
      <dgm:spPr/>
      <dgm:t>
        <a:bodyPr/>
        <a:lstStyle/>
        <a:p>
          <a:endParaRPr lang="en-US"/>
        </a:p>
      </dgm:t>
    </dgm:pt>
    <dgm:pt modelId="{732C8393-CDCE-40A4-AE70-855967A60058}" type="sibTrans" cxnId="{523976B0-1510-4091-96DF-FAA7917DC6E9}">
      <dgm:prSet/>
      <dgm:spPr/>
      <dgm:t>
        <a:bodyPr/>
        <a:lstStyle/>
        <a:p>
          <a:endParaRPr lang="en-US"/>
        </a:p>
      </dgm:t>
    </dgm:pt>
    <dgm:pt modelId="{B16A785A-0CAF-C640-87A3-CEA9A41BA5D5}" type="pres">
      <dgm:prSet presAssocID="{CC9DF6D8-42B8-4706-B9CA-3E311AF786A0}" presName="linear" presStyleCnt="0">
        <dgm:presLayoutVars>
          <dgm:animLvl val="lvl"/>
          <dgm:resizeHandles val="exact"/>
        </dgm:presLayoutVars>
      </dgm:prSet>
      <dgm:spPr/>
    </dgm:pt>
    <dgm:pt modelId="{3AED1EB6-C50E-BC42-81F3-0561A43697A5}" type="pres">
      <dgm:prSet presAssocID="{6BF7C4FB-3213-41AA-86DF-9F2F6CE7C26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A5F069D-9473-AD44-BA11-C81310877B59}" type="pres">
      <dgm:prSet presAssocID="{1F3644BE-BE8E-4FEC-8A54-89E439864B5C}" presName="spacer" presStyleCnt="0"/>
      <dgm:spPr/>
    </dgm:pt>
    <dgm:pt modelId="{B2B891DC-0DE1-3B48-9B65-F5130BF00ED9}" type="pres">
      <dgm:prSet presAssocID="{8F59B3F6-3738-4119-9096-E13E522BEA1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76B946D-B5FF-8A42-96E9-73A9B8BBA539}" type="pres">
      <dgm:prSet presAssocID="{9C0297C1-7114-40B9-AF2F-1E08901CC28D}" presName="spacer" presStyleCnt="0"/>
      <dgm:spPr/>
    </dgm:pt>
    <dgm:pt modelId="{5C248B94-866F-F94D-B983-D01B37E11867}" type="pres">
      <dgm:prSet presAssocID="{37336964-C409-423A-A47D-90B797D2B4E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54E831C-40E9-47D8-A52D-00D6FA042A0E}" srcId="{CC9DF6D8-42B8-4706-B9CA-3E311AF786A0}" destId="{6BF7C4FB-3213-41AA-86DF-9F2F6CE7C269}" srcOrd="0" destOrd="0" parTransId="{C66C4561-861F-4FCD-8CD3-A7E88F089EE5}" sibTransId="{1F3644BE-BE8E-4FEC-8A54-89E439864B5C}"/>
    <dgm:cxn modelId="{C858372C-E106-1543-A315-76978486FECF}" type="presOf" srcId="{8F59B3F6-3738-4119-9096-E13E522BEA17}" destId="{B2B891DC-0DE1-3B48-9B65-F5130BF00ED9}" srcOrd="0" destOrd="0" presId="urn:microsoft.com/office/officeart/2005/8/layout/vList2"/>
    <dgm:cxn modelId="{2D26156D-2D34-4870-B049-3A1A313D1FB6}" srcId="{CC9DF6D8-42B8-4706-B9CA-3E311AF786A0}" destId="{8F59B3F6-3738-4119-9096-E13E522BEA17}" srcOrd="1" destOrd="0" parTransId="{88CE3394-749E-4F36-AC1C-E722C964C23D}" sibTransId="{9C0297C1-7114-40B9-AF2F-1E08901CC28D}"/>
    <dgm:cxn modelId="{BF3FBB90-3CD4-3749-BBBE-CCE891A29BB9}" type="presOf" srcId="{6BF7C4FB-3213-41AA-86DF-9F2F6CE7C269}" destId="{3AED1EB6-C50E-BC42-81F3-0561A43697A5}" srcOrd="0" destOrd="0" presId="urn:microsoft.com/office/officeart/2005/8/layout/vList2"/>
    <dgm:cxn modelId="{523976B0-1510-4091-96DF-FAA7917DC6E9}" srcId="{CC9DF6D8-42B8-4706-B9CA-3E311AF786A0}" destId="{37336964-C409-423A-A47D-90B797D2B4EE}" srcOrd="2" destOrd="0" parTransId="{BD354B45-1968-47F6-ACDE-18483252F65B}" sibTransId="{732C8393-CDCE-40A4-AE70-855967A60058}"/>
    <dgm:cxn modelId="{086132D4-ED17-3340-8691-770037A61FE7}" type="presOf" srcId="{37336964-C409-423A-A47D-90B797D2B4EE}" destId="{5C248B94-866F-F94D-B983-D01B37E11867}" srcOrd="0" destOrd="0" presId="urn:microsoft.com/office/officeart/2005/8/layout/vList2"/>
    <dgm:cxn modelId="{4B0DDFF0-C3F4-154D-81EC-46992382932F}" type="presOf" srcId="{CC9DF6D8-42B8-4706-B9CA-3E311AF786A0}" destId="{B16A785A-0CAF-C640-87A3-CEA9A41BA5D5}" srcOrd="0" destOrd="0" presId="urn:microsoft.com/office/officeart/2005/8/layout/vList2"/>
    <dgm:cxn modelId="{10B83F4C-2FA8-6E4C-939B-3103E32A8B83}" type="presParOf" srcId="{B16A785A-0CAF-C640-87A3-CEA9A41BA5D5}" destId="{3AED1EB6-C50E-BC42-81F3-0561A43697A5}" srcOrd="0" destOrd="0" presId="urn:microsoft.com/office/officeart/2005/8/layout/vList2"/>
    <dgm:cxn modelId="{6FF5EB41-445B-3449-96AB-4A919B96449A}" type="presParOf" srcId="{B16A785A-0CAF-C640-87A3-CEA9A41BA5D5}" destId="{5A5F069D-9473-AD44-BA11-C81310877B59}" srcOrd="1" destOrd="0" presId="urn:microsoft.com/office/officeart/2005/8/layout/vList2"/>
    <dgm:cxn modelId="{62ADD0AF-6D75-0046-B225-D0AA89678067}" type="presParOf" srcId="{B16A785A-0CAF-C640-87A3-CEA9A41BA5D5}" destId="{B2B891DC-0DE1-3B48-9B65-F5130BF00ED9}" srcOrd="2" destOrd="0" presId="urn:microsoft.com/office/officeart/2005/8/layout/vList2"/>
    <dgm:cxn modelId="{4E21C84E-7757-C141-9D03-3263372B4096}" type="presParOf" srcId="{B16A785A-0CAF-C640-87A3-CEA9A41BA5D5}" destId="{876B946D-B5FF-8A42-96E9-73A9B8BBA539}" srcOrd="3" destOrd="0" presId="urn:microsoft.com/office/officeart/2005/8/layout/vList2"/>
    <dgm:cxn modelId="{B38F7DB4-16E3-9B48-944A-7852A0FC7C4C}" type="presParOf" srcId="{B16A785A-0CAF-C640-87A3-CEA9A41BA5D5}" destId="{5C248B94-866F-F94D-B983-D01B37E11867}" srcOrd="4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D1EB6-C50E-BC42-81F3-0561A43697A5}">
      <dsp:nvSpPr>
        <dsp:cNvPr id="0" name=""/>
        <dsp:cNvSpPr/>
      </dsp:nvSpPr>
      <dsp:spPr>
        <a:xfrm>
          <a:off x="0" y="182569"/>
          <a:ext cx="9437159" cy="10553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400" kern="1200"/>
            <a:t>Historical Event (Historical Perspective)</a:t>
          </a:r>
          <a:endParaRPr lang="en-US" sz="4400" kern="1200"/>
        </a:p>
      </dsp:txBody>
      <dsp:txXfrm>
        <a:off x="51517" y="234086"/>
        <a:ext cx="9334125" cy="952306"/>
      </dsp:txXfrm>
    </dsp:sp>
    <dsp:sp modelId="{B2B891DC-0DE1-3B48-9B65-F5130BF00ED9}">
      <dsp:nvSpPr>
        <dsp:cNvPr id="0" name=""/>
        <dsp:cNvSpPr/>
      </dsp:nvSpPr>
      <dsp:spPr>
        <a:xfrm>
          <a:off x="0" y="1364629"/>
          <a:ext cx="9437159" cy="10553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400" kern="1200"/>
            <a:t>Global Case (Global Focus)</a:t>
          </a:r>
          <a:endParaRPr lang="en-US" sz="4400" kern="1200"/>
        </a:p>
      </dsp:txBody>
      <dsp:txXfrm>
        <a:off x="51517" y="1416146"/>
        <a:ext cx="9334125" cy="952306"/>
      </dsp:txXfrm>
    </dsp:sp>
    <dsp:sp modelId="{5C248B94-866F-F94D-B983-D01B37E11867}">
      <dsp:nvSpPr>
        <dsp:cNvPr id="0" name=""/>
        <dsp:cNvSpPr/>
      </dsp:nvSpPr>
      <dsp:spPr>
        <a:xfrm>
          <a:off x="0" y="2546690"/>
          <a:ext cx="9437159" cy="10553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400" kern="1200"/>
            <a:t>Canadian Case (Local Focus) </a:t>
          </a:r>
          <a:endParaRPr lang="en-US" sz="4400" kern="1200"/>
        </a:p>
      </dsp:txBody>
      <dsp:txXfrm>
        <a:off x="51517" y="2598207"/>
        <a:ext cx="9334125" cy="952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0D60C-DF8C-724C-B5FC-FFB8AD365367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45A71-C329-9441-9E79-2C18CD975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27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45A71-C329-9441-9E79-2C18CD9751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50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45A71-C329-9441-9E79-2C18CD9751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18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128FA71-3A18-48C0-980F-4B68F7F63042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93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57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7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78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1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53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6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25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25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3964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553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792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3428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8423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022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68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4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7F45AC6-C491-4585-A584-9CE2AF7D5500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41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netwrix.com/biggest-cyber-attacks-in-history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netwrix.com/biggest-cyber-attacks-in-histor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 descr="Green Lock In A 3D Electronic System">
            <a:extLst>
              <a:ext uri="{FF2B5EF4-FFF2-40B4-BE49-F238E27FC236}">
                <a16:creationId xmlns:a16="http://schemas.microsoft.com/office/drawing/2014/main" id="{0B3C915A-52AE-A22F-8D78-F0412B93F66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772366-E8CB-5309-9A2D-5DAC6E053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5657" y="1930400"/>
            <a:ext cx="8244695" cy="1852862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M</a:t>
            </a:r>
            <a:r>
              <a:rPr lang="en-CA" b="1" dirty="0">
                <a:solidFill>
                  <a:srgbClr val="FFFFFF"/>
                </a:solidFill>
              </a:rPr>
              <a:t>ajor Cybersecurity </a:t>
            </a:r>
            <a:r>
              <a:rPr lang="en-CA" dirty="0">
                <a:solidFill>
                  <a:srgbClr val="FFFFFF"/>
                </a:solidFill>
              </a:rPr>
              <a:t>I</a:t>
            </a:r>
            <a:r>
              <a:rPr lang="en-CA" b="1" dirty="0">
                <a:solidFill>
                  <a:srgbClr val="FFFFFF"/>
                </a:solidFill>
              </a:rPr>
              <a:t>ncidents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7C923-E305-0D34-8C7C-0D3172913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2027" y="3883216"/>
            <a:ext cx="4184923" cy="125737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CEP 146 Project </a:t>
            </a:r>
          </a:p>
        </p:txBody>
      </p:sp>
    </p:spTree>
    <p:extLst>
      <p:ext uri="{BB962C8B-B14F-4D97-AF65-F5344CB8AC3E}">
        <p14:creationId xmlns:p14="http://schemas.microsoft.com/office/powerpoint/2010/main" val="341860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A094CB-65C9-0537-FBFC-5A26F5DD5C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2839075"/>
              </p:ext>
            </p:extLst>
          </p:nvPr>
        </p:nvGraphicFramePr>
        <p:xfrm>
          <a:off x="1375832" y="1535807"/>
          <a:ext cx="9437159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71989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6B5BE70-4451-4286-9D79-27C26F755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76C668-3F88-414B-AAEE-1785E38D5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8C5A54-E70B-4B9B-A7FE-D3A05561B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297762" cy="6858000"/>
          </a:xfrm>
          <a:custGeom>
            <a:avLst/>
            <a:gdLst>
              <a:gd name="connsiteX0" fmla="*/ 5297762 w 5297762"/>
              <a:gd name="connsiteY0" fmla="*/ 0 h 6858000"/>
              <a:gd name="connsiteX1" fmla="*/ 4654296 w 5297762"/>
              <a:gd name="connsiteY1" fmla="*/ 0 h 6858000"/>
              <a:gd name="connsiteX2" fmla="*/ 4470448 w 5297762"/>
              <a:gd name="connsiteY2" fmla="*/ 0 h 6858000"/>
              <a:gd name="connsiteX3" fmla="*/ 0 w 5297762"/>
              <a:gd name="connsiteY3" fmla="*/ 0 h 6858000"/>
              <a:gd name="connsiteX4" fmla="*/ 0 w 5297762"/>
              <a:gd name="connsiteY4" fmla="*/ 70650 h 6858000"/>
              <a:gd name="connsiteX5" fmla="*/ 13678 w 5297762"/>
              <a:gd name="connsiteY5" fmla="*/ 155673 h 6858000"/>
              <a:gd name="connsiteX6" fmla="*/ 37547 w 5297762"/>
              <a:gd name="connsiteY6" fmla="*/ 310664 h 6858000"/>
              <a:gd name="connsiteX7" fmla="*/ 60911 w 5297762"/>
              <a:gd name="connsiteY7" fmla="*/ 466340 h 6858000"/>
              <a:gd name="connsiteX8" fmla="*/ 80914 w 5297762"/>
              <a:gd name="connsiteY8" fmla="*/ 622703 h 6858000"/>
              <a:gd name="connsiteX9" fmla="*/ 101085 w 5297762"/>
              <a:gd name="connsiteY9" fmla="*/ 778379 h 6858000"/>
              <a:gd name="connsiteX10" fmla="*/ 119911 w 5297762"/>
              <a:gd name="connsiteY10" fmla="*/ 934742 h 6858000"/>
              <a:gd name="connsiteX11" fmla="*/ 136047 w 5297762"/>
              <a:gd name="connsiteY11" fmla="*/ 1089047 h 6858000"/>
              <a:gd name="connsiteX12" fmla="*/ 151343 w 5297762"/>
              <a:gd name="connsiteY12" fmla="*/ 1245409 h 6858000"/>
              <a:gd name="connsiteX13" fmla="*/ 165295 w 5297762"/>
              <a:gd name="connsiteY13" fmla="*/ 1401086 h 6858000"/>
              <a:gd name="connsiteX14" fmla="*/ 177397 w 5297762"/>
              <a:gd name="connsiteY14" fmla="*/ 1554019 h 6858000"/>
              <a:gd name="connsiteX15" fmla="*/ 189500 w 5297762"/>
              <a:gd name="connsiteY15" fmla="*/ 1709010 h 6858000"/>
              <a:gd name="connsiteX16" fmla="*/ 199585 w 5297762"/>
              <a:gd name="connsiteY16" fmla="*/ 1861943 h 6858000"/>
              <a:gd name="connsiteX17" fmla="*/ 207485 w 5297762"/>
              <a:gd name="connsiteY17" fmla="*/ 2014877 h 6858000"/>
              <a:gd name="connsiteX18" fmla="*/ 215722 w 5297762"/>
              <a:gd name="connsiteY18" fmla="*/ 2167124 h 6858000"/>
              <a:gd name="connsiteX19" fmla="*/ 222613 w 5297762"/>
              <a:gd name="connsiteY19" fmla="*/ 2318000 h 6858000"/>
              <a:gd name="connsiteX20" fmla="*/ 227488 w 5297762"/>
              <a:gd name="connsiteY20" fmla="*/ 2467505 h 6858000"/>
              <a:gd name="connsiteX21" fmla="*/ 231690 w 5297762"/>
              <a:gd name="connsiteY21" fmla="*/ 2617009 h 6858000"/>
              <a:gd name="connsiteX22" fmla="*/ 235724 w 5297762"/>
              <a:gd name="connsiteY22" fmla="*/ 2765142 h 6858000"/>
              <a:gd name="connsiteX23" fmla="*/ 237573 w 5297762"/>
              <a:gd name="connsiteY23" fmla="*/ 2911217 h 6858000"/>
              <a:gd name="connsiteX24" fmla="*/ 239590 w 5297762"/>
              <a:gd name="connsiteY24" fmla="*/ 3057293 h 6858000"/>
              <a:gd name="connsiteX25" fmla="*/ 240599 w 5297762"/>
              <a:gd name="connsiteY25" fmla="*/ 3201311 h 6858000"/>
              <a:gd name="connsiteX26" fmla="*/ 239590 w 5297762"/>
              <a:gd name="connsiteY26" fmla="*/ 3343957 h 6858000"/>
              <a:gd name="connsiteX27" fmla="*/ 239590 w 5297762"/>
              <a:gd name="connsiteY27" fmla="*/ 3485232 h 6858000"/>
              <a:gd name="connsiteX28" fmla="*/ 237573 w 5297762"/>
              <a:gd name="connsiteY28" fmla="*/ 3625135 h 6858000"/>
              <a:gd name="connsiteX29" fmla="*/ 234548 w 5297762"/>
              <a:gd name="connsiteY29" fmla="*/ 3762295 h 6858000"/>
              <a:gd name="connsiteX30" fmla="*/ 231690 w 5297762"/>
              <a:gd name="connsiteY30" fmla="*/ 3898083 h 6858000"/>
              <a:gd name="connsiteX31" fmla="*/ 228496 w 5297762"/>
              <a:gd name="connsiteY31" fmla="*/ 4031129 h 6858000"/>
              <a:gd name="connsiteX32" fmla="*/ 223622 w 5297762"/>
              <a:gd name="connsiteY32" fmla="*/ 4163488 h 6858000"/>
              <a:gd name="connsiteX33" fmla="*/ 218411 w 5297762"/>
              <a:gd name="connsiteY33" fmla="*/ 4293789 h 6858000"/>
              <a:gd name="connsiteX34" fmla="*/ 213705 w 5297762"/>
              <a:gd name="connsiteY34" fmla="*/ 4421348 h 6858000"/>
              <a:gd name="connsiteX35" fmla="*/ 200425 w 5297762"/>
              <a:gd name="connsiteY35" fmla="*/ 4670294 h 6858000"/>
              <a:gd name="connsiteX36" fmla="*/ 186306 w 5297762"/>
              <a:gd name="connsiteY36" fmla="*/ 4908952 h 6858000"/>
              <a:gd name="connsiteX37" fmla="*/ 171514 w 5297762"/>
              <a:gd name="connsiteY37" fmla="*/ 5138009 h 6858000"/>
              <a:gd name="connsiteX38" fmla="*/ 155209 w 5297762"/>
              <a:gd name="connsiteY38" fmla="*/ 5354722 h 6858000"/>
              <a:gd name="connsiteX39" fmla="*/ 138232 w 5297762"/>
              <a:gd name="connsiteY39" fmla="*/ 5561834 h 6858000"/>
              <a:gd name="connsiteX40" fmla="*/ 119911 w 5297762"/>
              <a:gd name="connsiteY40" fmla="*/ 5753858 h 6858000"/>
              <a:gd name="connsiteX41" fmla="*/ 101925 w 5297762"/>
              <a:gd name="connsiteY41" fmla="*/ 5934223 h 6858000"/>
              <a:gd name="connsiteX42" fmla="*/ 83940 w 5297762"/>
              <a:gd name="connsiteY42" fmla="*/ 6100187 h 6858000"/>
              <a:gd name="connsiteX43" fmla="*/ 66963 w 5297762"/>
              <a:gd name="connsiteY43" fmla="*/ 6252434 h 6858000"/>
              <a:gd name="connsiteX44" fmla="*/ 50826 w 5297762"/>
              <a:gd name="connsiteY44" fmla="*/ 6387537 h 6858000"/>
              <a:gd name="connsiteX45" fmla="*/ 35530 w 5297762"/>
              <a:gd name="connsiteY45" fmla="*/ 6509609 h 6858000"/>
              <a:gd name="connsiteX46" fmla="*/ 22755 w 5297762"/>
              <a:gd name="connsiteY46" fmla="*/ 6612479 h 6858000"/>
              <a:gd name="connsiteX47" fmla="*/ 10653 w 5297762"/>
              <a:gd name="connsiteY47" fmla="*/ 6698890 h 6858000"/>
              <a:gd name="connsiteX48" fmla="*/ 0 w 5297762"/>
              <a:gd name="connsiteY48" fmla="*/ 6771890 h 6858000"/>
              <a:gd name="connsiteX49" fmla="*/ 0 w 5297762"/>
              <a:gd name="connsiteY49" fmla="*/ 6858000 h 6858000"/>
              <a:gd name="connsiteX50" fmla="*/ 4470448 w 5297762"/>
              <a:gd name="connsiteY50" fmla="*/ 6858000 h 6858000"/>
              <a:gd name="connsiteX51" fmla="*/ 4654296 w 5297762"/>
              <a:gd name="connsiteY51" fmla="*/ 6858000 h 6858000"/>
              <a:gd name="connsiteX52" fmla="*/ 5297762 w 5297762"/>
              <a:gd name="connsiteY5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297762" h="6858000">
                <a:moveTo>
                  <a:pt x="5297762" y="0"/>
                </a:moveTo>
                <a:lnTo>
                  <a:pt x="4654296" y="0"/>
                </a:lnTo>
                <a:lnTo>
                  <a:pt x="4470448" y="0"/>
                </a:lnTo>
                <a:lnTo>
                  <a:pt x="0" y="0"/>
                </a:lnTo>
                <a:lnTo>
                  <a:pt x="0" y="70650"/>
                </a:lnTo>
                <a:lnTo>
                  <a:pt x="13678" y="155673"/>
                </a:lnTo>
                <a:lnTo>
                  <a:pt x="37547" y="310664"/>
                </a:lnTo>
                <a:lnTo>
                  <a:pt x="60911" y="466340"/>
                </a:lnTo>
                <a:lnTo>
                  <a:pt x="80914" y="622703"/>
                </a:lnTo>
                <a:lnTo>
                  <a:pt x="101085" y="778379"/>
                </a:lnTo>
                <a:lnTo>
                  <a:pt x="119911" y="934742"/>
                </a:lnTo>
                <a:lnTo>
                  <a:pt x="136047" y="1089047"/>
                </a:lnTo>
                <a:lnTo>
                  <a:pt x="151343" y="1245409"/>
                </a:lnTo>
                <a:lnTo>
                  <a:pt x="165295" y="1401086"/>
                </a:lnTo>
                <a:lnTo>
                  <a:pt x="177397" y="1554019"/>
                </a:lnTo>
                <a:lnTo>
                  <a:pt x="189500" y="1709010"/>
                </a:lnTo>
                <a:lnTo>
                  <a:pt x="199585" y="1861943"/>
                </a:lnTo>
                <a:lnTo>
                  <a:pt x="207485" y="2014877"/>
                </a:lnTo>
                <a:lnTo>
                  <a:pt x="215722" y="2167124"/>
                </a:lnTo>
                <a:lnTo>
                  <a:pt x="222613" y="2318000"/>
                </a:lnTo>
                <a:lnTo>
                  <a:pt x="227488" y="2467505"/>
                </a:lnTo>
                <a:lnTo>
                  <a:pt x="231690" y="2617009"/>
                </a:lnTo>
                <a:lnTo>
                  <a:pt x="235724" y="2765142"/>
                </a:lnTo>
                <a:lnTo>
                  <a:pt x="237573" y="2911217"/>
                </a:lnTo>
                <a:lnTo>
                  <a:pt x="239590" y="3057293"/>
                </a:lnTo>
                <a:lnTo>
                  <a:pt x="240599" y="3201311"/>
                </a:lnTo>
                <a:lnTo>
                  <a:pt x="239590" y="3343957"/>
                </a:lnTo>
                <a:lnTo>
                  <a:pt x="239590" y="3485232"/>
                </a:lnTo>
                <a:lnTo>
                  <a:pt x="237573" y="3625135"/>
                </a:lnTo>
                <a:lnTo>
                  <a:pt x="234548" y="3762295"/>
                </a:lnTo>
                <a:lnTo>
                  <a:pt x="231690" y="3898083"/>
                </a:lnTo>
                <a:lnTo>
                  <a:pt x="228496" y="4031129"/>
                </a:lnTo>
                <a:lnTo>
                  <a:pt x="223622" y="4163488"/>
                </a:lnTo>
                <a:lnTo>
                  <a:pt x="218411" y="4293789"/>
                </a:lnTo>
                <a:lnTo>
                  <a:pt x="213705" y="4421348"/>
                </a:lnTo>
                <a:lnTo>
                  <a:pt x="200425" y="4670294"/>
                </a:lnTo>
                <a:lnTo>
                  <a:pt x="186306" y="4908952"/>
                </a:lnTo>
                <a:lnTo>
                  <a:pt x="171514" y="5138009"/>
                </a:lnTo>
                <a:lnTo>
                  <a:pt x="155209" y="5354722"/>
                </a:lnTo>
                <a:lnTo>
                  <a:pt x="138232" y="5561834"/>
                </a:lnTo>
                <a:lnTo>
                  <a:pt x="119911" y="5753858"/>
                </a:lnTo>
                <a:lnTo>
                  <a:pt x="101925" y="5934223"/>
                </a:lnTo>
                <a:lnTo>
                  <a:pt x="83940" y="6100187"/>
                </a:lnTo>
                <a:lnTo>
                  <a:pt x="66963" y="6252434"/>
                </a:lnTo>
                <a:lnTo>
                  <a:pt x="50826" y="6387537"/>
                </a:lnTo>
                <a:lnTo>
                  <a:pt x="35530" y="6509609"/>
                </a:lnTo>
                <a:lnTo>
                  <a:pt x="22755" y="6612479"/>
                </a:lnTo>
                <a:lnTo>
                  <a:pt x="10653" y="6698890"/>
                </a:lnTo>
                <a:lnTo>
                  <a:pt x="0" y="6771890"/>
                </a:lnTo>
                <a:lnTo>
                  <a:pt x="0" y="6858000"/>
                </a:lnTo>
                <a:lnTo>
                  <a:pt x="4470448" y="6858000"/>
                </a:lnTo>
                <a:lnTo>
                  <a:pt x="4654296" y="6858000"/>
                </a:lnTo>
                <a:lnTo>
                  <a:pt x="5297762" y="6858000"/>
                </a:lnTo>
                <a:close/>
              </a:path>
            </a:pathLst>
          </a:cu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32" name="Picture 8" descr="One billion' affected by Yahoo hack - BBC News">
            <a:extLst>
              <a:ext uri="{FF2B5EF4-FFF2-40B4-BE49-F238E27FC236}">
                <a16:creationId xmlns:a16="http://schemas.microsoft.com/office/drawing/2014/main" id="{9965D326-4706-48B4-F426-4E3A4C1AE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-1786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22DBA1-FD46-8EEC-9BB8-DD48DD29FF0C}"/>
              </a:ext>
            </a:extLst>
          </p:cNvPr>
          <p:cNvSpPr txBox="1"/>
          <p:nvPr/>
        </p:nvSpPr>
        <p:spPr>
          <a:xfrm>
            <a:off x="1312735" y="5887611"/>
            <a:ext cx="10327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Reference: [Netwrix Community] (</a:t>
            </a:r>
            <a:r>
              <a:rPr lang="en-CA" u="sng" dirty="0">
                <a:hlinkClick r:id="rId4"/>
              </a:rPr>
              <a:t>https://blog.netwrix.com/biggest-cyber-attacks-in-history</a:t>
            </a:r>
            <a:r>
              <a:rPr lang="en-CA" dirty="0"/>
              <a:t> "The Largest and Most Notorious Cyber Attacks in History")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004CD4-D688-60B0-7BE8-444D0FB47A9B}"/>
              </a:ext>
            </a:extLst>
          </p:cNvPr>
          <p:cNvSpPr txBox="1"/>
          <p:nvPr/>
        </p:nvSpPr>
        <p:spPr>
          <a:xfrm>
            <a:off x="5934779" y="1442055"/>
            <a:ext cx="561702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latin typeface="ADLaM Display" panose="020F0502020204030204" pitchFamily="34" charset="0"/>
                <a:cs typeface="ADLaM Display" panose="020F0502020204030204" pitchFamily="34" charset="0"/>
              </a:rPr>
              <a:t>Yahoo Data Breach (2014)</a:t>
            </a:r>
          </a:p>
          <a:p>
            <a:endParaRPr lang="en-CA" b="1" dirty="0"/>
          </a:p>
          <a:p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CA" sz="2000" dirty="0"/>
              <a:t>Over </a:t>
            </a:r>
            <a:r>
              <a:rPr lang="en-CA" sz="2000" b="1" dirty="0"/>
              <a:t>500 million users</a:t>
            </a:r>
            <a:r>
              <a:rPr lang="en-CA" sz="2000" dirty="0"/>
              <a:t> affected</a:t>
            </a:r>
          </a:p>
          <a:p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CA" sz="2000" dirty="0"/>
              <a:t>Yahoo </a:t>
            </a:r>
            <a:r>
              <a:rPr lang="en-CA" sz="2000" b="1" dirty="0"/>
              <a:t>revealed the breach two years later</a:t>
            </a:r>
            <a:endParaRPr lang="en-CA" sz="2000" dirty="0"/>
          </a:p>
          <a:p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CA" sz="2000" dirty="0"/>
              <a:t>Linked to </a:t>
            </a:r>
            <a:r>
              <a:rPr lang="en-CA" sz="2000" b="1" dirty="0"/>
              <a:t>Russian hackers (FSB)</a:t>
            </a:r>
            <a:endParaRPr lang="en-CA" sz="2000" dirty="0"/>
          </a:p>
          <a:p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CA" sz="2000" dirty="0"/>
              <a:t>Used </a:t>
            </a:r>
            <a:r>
              <a:rPr lang="en-CA" sz="2000" b="1" dirty="0"/>
              <a:t>phishing emails</a:t>
            </a:r>
            <a:r>
              <a:rPr lang="en-CA" sz="2000" dirty="0"/>
              <a:t> to steal user data</a:t>
            </a:r>
          </a:p>
          <a:p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CA" sz="2000" dirty="0"/>
              <a:t>Led to </a:t>
            </a:r>
            <a:r>
              <a:rPr lang="en-CA" sz="2000" b="1" dirty="0"/>
              <a:t>loss of trust</a:t>
            </a:r>
            <a:r>
              <a:rPr lang="en-CA" sz="2000" dirty="0"/>
              <a:t> and lawsuits</a:t>
            </a:r>
          </a:p>
          <a:p>
            <a:r>
              <a:rPr lang="en-US" altLang="zh-CN" sz="2000" b="1" dirty="0"/>
              <a:t>-</a:t>
            </a:r>
            <a:r>
              <a:rPr lang="zh-CN" altLang="en-US" sz="2000" b="1" dirty="0"/>
              <a:t> </a:t>
            </a:r>
            <a:r>
              <a:rPr lang="en-CA" sz="2000" b="1" dirty="0"/>
              <a:t>Verizon cut $350M</a:t>
            </a:r>
            <a:r>
              <a:rPr lang="en-CA" sz="2000" dirty="0"/>
              <a:t> from Yahoo’s sale price</a:t>
            </a:r>
          </a:p>
        </p:txBody>
      </p:sp>
    </p:spTree>
    <p:extLst>
      <p:ext uri="{BB962C8B-B14F-4D97-AF65-F5344CB8AC3E}">
        <p14:creationId xmlns:p14="http://schemas.microsoft.com/office/powerpoint/2010/main" val="2029668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C138-67DB-3070-F434-2CDD111FD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DC3E1-C0F4-82ED-271D-E176157A6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44713" y="609600"/>
            <a:ext cx="11549742" cy="6952343"/>
          </a:xfrm>
        </p:spPr>
        <p:txBody>
          <a:bodyPr/>
          <a:lstStyle/>
          <a:p>
            <a:pPr marL="0" indent="0">
              <a:buNone/>
            </a:pPr>
            <a:r>
              <a:rPr lang="en-CA" sz="2000" b="1" dirty="0"/>
              <a:t>-</a:t>
            </a:r>
            <a:endParaRPr lang="en-US" dirty="0"/>
          </a:p>
        </p:txBody>
      </p:sp>
      <p:pic>
        <p:nvPicPr>
          <p:cNvPr id="2050" name="Picture 2" descr="WannaCry Virus: A Lesson in Global Unpreparedness | RAND">
            <a:extLst>
              <a:ext uri="{FF2B5EF4-FFF2-40B4-BE49-F238E27FC236}">
                <a16:creationId xmlns:a16="http://schemas.microsoft.com/office/drawing/2014/main" id="{A5A91707-9BE9-64EC-3C30-DC69A43A7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2571" y="0"/>
            <a:ext cx="1226457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D7DF73-3D6D-FCCB-45C4-4D88C6DA6945}"/>
              </a:ext>
            </a:extLst>
          </p:cNvPr>
          <p:cNvSpPr txBox="1">
            <a:spLocks/>
          </p:cNvSpPr>
          <p:nvPr/>
        </p:nvSpPr>
        <p:spPr>
          <a:xfrm>
            <a:off x="611981" y="2365830"/>
            <a:ext cx="9636353" cy="5988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3200" b="1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"WannaCry" attack </a:t>
            </a:r>
          </a:p>
          <a:p>
            <a:pPr marL="0" indent="0">
              <a:buNone/>
            </a:pPr>
            <a:r>
              <a:rPr lang="en-CA" sz="3200" b="1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(2017)</a:t>
            </a:r>
          </a:p>
          <a:p>
            <a:pPr marL="0" indent="0">
              <a:buNone/>
            </a:pPr>
            <a:r>
              <a:rPr lang="en-CA" sz="2000" b="1" dirty="0"/>
              <a:t>- Cyberattacks have become more advanced and destructive as technology advanced</a:t>
            </a:r>
            <a:endParaRPr lang="en-CA" sz="2000" dirty="0"/>
          </a:p>
          <a:p>
            <a:pPr marL="0" indent="0">
              <a:buFont typeface="Arial"/>
              <a:buNone/>
            </a:pPr>
            <a:r>
              <a:rPr lang="en-CA" sz="2000" b="1" dirty="0"/>
              <a:t>- Cyberattacks can have devastating effects that can be felt worldwide</a:t>
            </a:r>
            <a:endParaRPr lang="en-CA" sz="2000" dirty="0"/>
          </a:p>
          <a:p>
            <a:pPr marL="0" indent="0">
              <a:buFont typeface="Arial"/>
              <a:buNone/>
            </a:pPr>
            <a:r>
              <a:rPr lang="en-CA" sz="2000" b="1" dirty="0"/>
              <a:t>- One of the biggest and most relevant global attacks was the "WannaCry" attack of 2017</a:t>
            </a:r>
            <a:endParaRPr lang="en-CA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328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0906D-380F-6CA8-E955-2A3A8E85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EC911-DF40-D8F9-BA64-FD4BD45C9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Lockbit Ransomware Group Claims London Drugs Ransomware Attack - News">
            <a:extLst>
              <a:ext uri="{FF2B5EF4-FFF2-40B4-BE49-F238E27FC236}">
                <a16:creationId xmlns:a16="http://schemas.microsoft.com/office/drawing/2014/main" id="{34F04AF8-D6DA-71FC-5F2E-A95E9C40E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08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25BF1F-9320-1A69-7848-C7BB9AE1E8B7}"/>
              </a:ext>
            </a:extLst>
          </p:cNvPr>
          <p:cNvSpPr txBox="1"/>
          <p:nvPr/>
        </p:nvSpPr>
        <p:spPr>
          <a:xfrm>
            <a:off x="362857" y="4513945"/>
            <a:ext cx="3033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(2024)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8488B-126B-C71B-AAD2-6CA2F1E05533}"/>
              </a:ext>
            </a:extLst>
          </p:cNvPr>
          <p:cNvSpPr txBox="1"/>
          <p:nvPr/>
        </p:nvSpPr>
        <p:spPr>
          <a:xfrm>
            <a:off x="6090444" y="3698337"/>
            <a:ext cx="50473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-</a:t>
            </a:r>
            <a:r>
              <a:rPr lang="zh-CN" altLang="en-US" sz="2000" b="1" dirty="0"/>
              <a:t> </a:t>
            </a:r>
            <a:r>
              <a:rPr lang="en-CA" sz="2000" b="1" dirty="0"/>
              <a:t>79 stores closed</a:t>
            </a:r>
            <a:r>
              <a:rPr lang="en-CA" sz="2000" dirty="0"/>
              <a:t> for a week</a:t>
            </a:r>
            <a:r>
              <a:rPr lang="zh-CN" altLang="en-US" sz="2000" dirty="0"/>
              <a:t> </a:t>
            </a:r>
            <a:r>
              <a:rPr lang="en-CA" sz="2000" dirty="0"/>
              <a:t>Hackers</a:t>
            </a:r>
            <a:endParaRPr lang="en-US" sz="2000" dirty="0"/>
          </a:p>
          <a:p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US" altLang="zh-CN" sz="2000" dirty="0"/>
              <a:t>D</a:t>
            </a:r>
            <a:r>
              <a:rPr lang="en-CA" sz="2000" dirty="0"/>
              <a:t>emanded </a:t>
            </a:r>
            <a:r>
              <a:rPr lang="en-CA" sz="2000" b="1" dirty="0"/>
              <a:t>$25M</a:t>
            </a:r>
            <a:r>
              <a:rPr lang="en-CA" sz="2000" dirty="0"/>
              <a:t>, not paid</a:t>
            </a:r>
          </a:p>
          <a:p>
            <a:r>
              <a:rPr lang="en-CA" sz="2000" dirty="0"/>
              <a:t>- Some </a:t>
            </a:r>
            <a:r>
              <a:rPr lang="en-CA" sz="2000" b="1" dirty="0"/>
              <a:t>internal data leaked</a:t>
            </a:r>
            <a:endParaRPr lang="en-CA" sz="2000" dirty="0"/>
          </a:p>
          <a:p>
            <a:r>
              <a:rPr lang="en-CA" sz="2000" b="1" dirty="0"/>
              <a:t>- No customer data affected</a:t>
            </a:r>
            <a:endParaRPr lang="en-CA" sz="2000" dirty="0"/>
          </a:p>
          <a:p>
            <a:r>
              <a:rPr lang="en-CA" sz="2000" dirty="0"/>
              <a:t>- Shows rising </a:t>
            </a:r>
            <a:r>
              <a:rPr lang="en-CA" sz="2000" b="1" dirty="0"/>
              <a:t>cyber risks in Canada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214853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5141C-EDCD-5ED2-D889-4B2A6CCEC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7493" y="134383"/>
            <a:ext cx="4175308" cy="13608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6025A8-7398-DF1F-775B-A9C491CA67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177366"/>
            <a:ext cx="7593496" cy="52191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dirty="0">
                <a:ln>
                  <a:noFill/>
                </a:ln>
                <a:effectLst/>
              </a:rPr>
              <a:t>Cybersecurity</a:t>
            </a: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 is one of the most serious global issues today.</a:t>
            </a:r>
          </a:p>
          <a:p>
            <a:pPr marL="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Real cases like </a:t>
            </a:r>
            <a:r>
              <a:rPr kumimoji="0" lang="en-US" altLang="en-US" b="1" i="0" u="none" strike="noStrike" cap="none" normalizeH="0" dirty="0">
                <a:ln>
                  <a:noFill/>
                </a:ln>
                <a:effectLst/>
              </a:rPr>
              <a:t>Yahoo</a:t>
            </a: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, </a:t>
            </a:r>
            <a:r>
              <a:rPr kumimoji="0" lang="en-US" altLang="en-US" b="1" i="0" u="none" strike="noStrike" cap="none" normalizeH="0" dirty="0">
                <a:ln>
                  <a:noFill/>
                </a:ln>
                <a:effectLst/>
              </a:rPr>
              <a:t>WannaCry</a:t>
            </a: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, and </a:t>
            </a:r>
            <a:r>
              <a:rPr kumimoji="0" lang="en-US" altLang="en-US" b="1" i="0" u="none" strike="noStrike" cap="none" normalizeH="0" dirty="0" err="1">
                <a:ln>
                  <a:noFill/>
                </a:ln>
                <a:effectLst/>
              </a:rPr>
              <a:t>Lockbit</a:t>
            </a: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 show how cyber threats affect everyone.</a:t>
            </a:r>
          </a:p>
          <a:p>
            <a:pPr marL="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dirty="0">
                <a:ln>
                  <a:noFill/>
                </a:ln>
                <a:effectLst/>
              </a:rPr>
              <a:t>Everyone can be a target</a:t>
            </a: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 — online safety is a </a:t>
            </a:r>
            <a:r>
              <a:rPr kumimoji="0" lang="en-US" altLang="en-US" b="1" i="0" u="none" strike="noStrike" cap="none" normalizeH="0" dirty="0">
                <a:ln>
                  <a:noFill/>
                </a:ln>
                <a:effectLst/>
              </a:rPr>
              <a:t>shared responsibility</a:t>
            </a: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dirty="0">
                <a:ln>
                  <a:noFill/>
                </a:ln>
                <a:effectLst/>
              </a:rPr>
              <a:t>Companies</a:t>
            </a: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 must improve their systems and protect user data.</a:t>
            </a:r>
          </a:p>
          <a:p>
            <a:pPr marL="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dirty="0">
                <a:ln>
                  <a:noFill/>
                </a:ln>
                <a:effectLst/>
              </a:rPr>
              <a:t>Users</a:t>
            </a: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 should be careful with passwords and personal information.</a:t>
            </a:r>
          </a:p>
          <a:p>
            <a:pPr marL="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dirty="0">
                <a:ln>
                  <a:noFill/>
                </a:ln>
                <a:effectLst/>
              </a:rPr>
              <a:t>Governments</a:t>
            </a: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 need stronger laws and global cooperation to fight cybercrime.</a:t>
            </a:r>
          </a:p>
          <a:p>
            <a:pPr marL="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Cybersecurity is not only about technology but also about </a:t>
            </a:r>
            <a:r>
              <a:rPr kumimoji="0" lang="en-US" altLang="en-US" b="1" i="0" u="none" strike="noStrike" cap="none" normalizeH="0" dirty="0">
                <a:ln>
                  <a:noFill/>
                </a:ln>
                <a:effectLst/>
              </a:rPr>
              <a:t>awareness and education</a:t>
            </a: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Working together can make the </a:t>
            </a:r>
            <a:r>
              <a:rPr kumimoji="0" lang="en-US" altLang="en-US" b="1" i="0" u="none" strike="noStrike" cap="none" normalizeH="0" dirty="0">
                <a:ln>
                  <a:noFill/>
                </a:ln>
                <a:effectLst/>
              </a:rPr>
              <a:t>internet safer and more trusted</a:t>
            </a:r>
            <a:r>
              <a:rPr kumimoji="0" lang="en-US" altLang="en-US" b="0" i="0" u="none" strike="noStrike" cap="none" normalizeH="0" dirty="0">
                <a:ln>
                  <a:noFill/>
                </a:ln>
                <a:effectLst/>
              </a:rPr>
              <a:t> for everyone.</a:t>
            </a:r>
          </a:p>
        </p:txBody>
      </p:sp>
      <p:pic>
        <p:nvPicPr>
          <p:cNvPr id="3" name="Picture 2" descr="A close-up of a network&#10;&#10;AI-generated content may be incorrect.">
            <a:extLst>
              <a:ext uri="{FF2B5EF4-FFF2-40B4-BE49-F238E27FC236}">
                <a16:creationId xmlns:a16="http://schemas.microsoft.com/office/drawing/2014/main" id="{6DAF2842-6134-1BC2-B9CA-D89BEA7957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1842" r="-1" b="-1"/>
          <a:stretch>
            <a:fillRect/>
          </a:stretch>
        </p:blipFill>
        <p:spPr>
          <a:xfrm>
            <a:off x="4634621" y="10"/>
            <a:ext cx="7557379" cy="6857990"/>
          </a:xfrm>
          <a:custGeom>
            <a:avLst/>
            <a:gdLst/>
            <a:ahLst/>
            <a:cxnLst/>
            <a:rect l="l" t="t" r="r" b="b"/>
            <a:pathLst>
              <a:path w="7557379" h="6858000">
                <a:moveTo>
                  <a:pt x="62130" y="0"/>
                </a:moveTo>
                <a:lnTo>
                  <a:pt x="7557379" y="0"/>
                </a:lnTo>
                <a:lnTo>
                  <a:pt x="755737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736812" y="6857999"/>
                </a:lnTo>
                <a:lnTo>
                  <a:pt x="6722464" y="3"/>
                </a:lnTo>
                <a:lnTo>
                  <a:pt x="7041779" y="1"/>
                </a:lnTo>
                <a:lnTo>
                  <a:pt x="62130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0276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DB68-B822-E843-DB05-80AB7A68A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859" y="2394857"/>
            <a:ext cx="10131425" cy="1456267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Conclusion</a:t>
            </a:r>
          </a:p>
        </p:txBody>
      </p:sp>
      <p:pic>
        <p:nvPicPr>
          <p:cNvPr id="4098" name="Picture 2" descr="The Biggest Cybersecurity Issues Heading into 2025">
            <a:extLst>
              <a:ext uri="{FF2B5EF4-FFF2-40B4-BE49-F238E27FC236}">
                <a16:creationId xmlns:a16="http://schemas.microsoft.com/office/drawing/2014/main" id="{5FFF72E3-6B3E-1F30-9FE4-A24B009BC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821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E70EF-2A25-F919-8A8E-37789C128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4236834" cy="703561"/>
          </a:xfrm>
        </p:spPr>
        <p:txBody>
          <a:bodyPr/>
          <a:lstStyle/>
          <a:p>
            <a:r>
              <a:rPr lang="en-US" dirty="0"/>
              <a:t>reference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EE8F19-EAB9-2A6B-2D88-7D4581051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Schrader, D. (2025, August 12). The largest and most notorious cyber attacks in history. 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Netwrix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https://blog.netwrix.com/biggest-cyber-attacks-in-history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Gatlan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(2024, May 21).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LockBit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says they stole data in London drugs ransomware attack.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BleepingComputer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https://www.bleepingcomputer.com/news/security/lockbit-says-they-stole-data-in-london-drugs-ransomware-attack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800" dirty="0">
              <a:latin typeface="Arial" panose="020B0604020202020204" pitchFamily="34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70721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68</TotalTime>
  <Words>357</Words>
  <Application>Microsoft Office PowerPoint</Application>
  <PresentationFormat>Widescreen</PresentationFormat>
  <Paragraphs>43</Paragraphs>
  <Slides>8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ADLaM Display</vt:lpstr>
      <vt:lpstr>Aptos</vt:lpstr>
      <vt:lpstr>Arial</vt:lpstr>
      <vt:lpstr>Calibri</vt:lpstr>
      <vt:lpstr>Calibri Light</vt:lpstr>
      <vt:lpstr>Times New Roman</vt:lpstr>
      <vt:lpstr>Celestial</vt:lpstr>
      <vt:lpstr>Major Cybersecurity Incidents</vt:lpstr>
      <vt:lpstr>PowerPoint Presentation</vt:lpstr>
      <vt:lpstr>PowerPoint Presentation</vt:lpstr>
      <vt:lpstr>PowerPoint Presentation</vt:lpstr>
      <vt:lpstr>PowerPoint Presentation</vt:lpstr>
      <vt:lpstr>Conclusion</vt:lpstr>
      <vt:lpstr>Conclusion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Zeyi Cai</dc:creator>
  <cp:lastModifiedBy>Cuong Nguyen</cp:lastModifiedBy>
  <cp:revision>4</cp:revision>
  <dcterms:created xsi:type="dcterms:W3CDTF">2025-10-13T21:11:02Z</dcterms:created>
  <dcterms:modified xsi:type="dcterms:W3CDTF">2025-10-14T00:13:33Z</dcterms:modified>
</cp:coreProperties>
</file>